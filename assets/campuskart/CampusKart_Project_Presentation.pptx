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5435054"/>
            <a:ext cx="11334750" cy="9943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28625"/>
            <a:ext cx="1133475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8625" y="847725"/>
            <a:ext cx="11763375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1" i="0" u="none">
                <a:solidFill>
                  <a:srgbClr val="F8FAFC"/>
                </a:solidFill>
                <a:latin typeface="Poppins"/>
              </a:rPr>
              <a:t>Digital Enterprise Design &amp; Operational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2076450"/>
            <a:ext cx="85725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CBD5E1"/>
                </a:solidFill>
                <a:latin typeface="Lato"/>
              </a:rPr>
              <a:t>A Unified Odoo ERP Architecture for CampusKart Omni-Channel Retail Operations | Comprehensive Capstone Synthesis across Phases 1–6.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5689252"/>
            <a:ext cx="18669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8FAFC"/>
                </a:solidFill>
                <a:latin typeface="Lato SemiBold"/>
              </a:rPr>
              <a:t>Agnitra Ray</a:t>
            </a:r>
            <a:r>
              <a:rPr sz="1200" b="0" i="0" u="none" dirty="0">
                <a:solidFill>
                  <a:srgbClr val="000000"/>
                </a:solidFill>
                <a:latin typeface="Lato"/>
              </a:rPr>
              <a:t> </a:t>
            </a:r>
            <a:r>
              <a:rPr sz="1200" b="0" i="0" u="none" dirty="0">
                <a:solidFill>
                  <a:srgbClr val="2DD4BF"/>
                </a:solidFill>
                <a:latin typeface="Lato SemiBold"/>
              </a:rPr>
              <a:t>Roll No: FT261080R | Group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3325" y="5635079"/>
            <a:ext cx="393382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sz="975" b="1" i="0" u="none">
                <a:solidFill>
                  <a:srgbClr val="94A3B8"/>
                </a:solidFill>
                <a:latin typeface="Lato"/>
              </a:rPr>
              <a:t>Course:</a:t>
            </a:r>
            <a:r>
              <a:rPr sz="975" b="0" i="0" u="none">
                <a:solidFill>
                  <a:srgbClr val="94A3B8"/>
                </a:solidFill>
                <a:latin typeface="Lato"/>
              </a:rPr>
              <a:t> ERP &amp; Industry 4.0 – From Strategy to Execution</a:t>
            </a:r>
            <a:r>
              <a:t>
</a:t>
            </a:r>
            <a:r>
              <a:rPr sz="975" b="1" i="0" u="none">
                <a:solidFill>
                  <a:srgbClr val="94A3B8"/>
                </a:solidFill>
                <a:latin typeface="Lato"/>
              </a:rPr>
              <a:t>Institution:</a:t>
            </a:r>
            <a:r>
              <a:rPr sz="975" b="0" i="0" u="none">
                <a:solidFill>
                  <a:srgbClr val="94A3B8"/>
                </a:solidFill>
                <a:latin typeface="Lato"/>
              </a:rPr>
              <a:t> Great Lakes Institute of Management</a:t>
            </a:r>
            <a:r>
              <a:t>
</a:t>
            </a:r>
            <a:r>
              <a:rPr sz="975" b="1" i="0" u="none">
                <a:solidFill>
                  <a:srgbClr val="94A3B8"/>
                </a:solidFill>
                <a:latin typeface="Lato"/>
              </a:rPr>
              <a:t>Email:</a:t>
            </a:r>
            <a:r>
              <a:rPr sz="975" b="0" i="0" u="none">
                <a:solidFill>
                  <a:srgbClr val="94A3B8"/>
                </a:solidFill>
                <a:latin typeface="Lato"/>
              </a:rPr>
              <a:t> agnitra.ft261080@greatlakes.edu.in | </a:t>
            </a:r>
            <a:r>
              <a:rPr sz="975" b="1" i="0" u="none">
                <a:solidFill>
                  <a:srgbClr val="94A3B8"/>
                </a:solidFill>
                <a:latin typeface="Lato"/>
              </a:rPr>
              <a:t>Mobile:</a:t>
            </a:r>
            <a:r>
              <a:rPr sz="975" b="0" i="0" u="none">
                <a:solidFill>
                  <a:srgbClr val="94A3B8"/>
                </a:solidFill>
                <a:latin typeface="Lato"/>
              </a:rPr>
              <a:t> +91 7595058190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577703"/>
            <a:ext cx="5514975" cy="23883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577703"/>
            <a:ext cx="5514975" cy="23883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834878"/>
            <a:ext cx="5250656" cy="2762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Academic &amp; Project 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87303"/>
            <a:ext cx="50006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Course Title: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ERP &amp; Industry 4.0 – From Strategy to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89721"/>
            <a:ext cx="50006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Institution: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Great Lakes Institute of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2140"/>
            <a:ext cx="50006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Consulting Lead: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Agnitra Ray (Roll: FT261080R)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94559"/>
            <a:ext cx="50006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Assigned Client: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CampusKart (College Merchandise Store - Group 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96978"/>
            <a:ext cx="5000625" cy="2166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Database Instance: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campuskart.odoo.com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2834878"/>
            <a:ext cx="5250656" cy="276225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6-Phase Transformation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3187303"/>
            <a:ext cx="50006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Phase 1: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Company Profile, Bottlenecks &amp; Growth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3489721"/>
            <a:ext cx="50006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Phase 2: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Bizagi BPMN 2.0 Process Engineering (O2C, P2P, M2O)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3792140"/>
            <a:ext cx="50006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Phase 3: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ERP System Architecture &amp; Odoo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4094559"/>
            <a:ext cx="50006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Phase 4 &amp; 5: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Master Data Configuration &amp; Live Transaction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4396978"/>
            <a:ext cx="50006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Phase 6: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Executive Governance, Dashboards, Industry 4.0 &amp; AI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82503"/>
            <a:ext cx="2286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2882503"/>
            <a:ext cx="200025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Presentation Structure &amp; Project Metadata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366962"/>
            <a:ext cx="5514975" cy="2809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66962"/>
            <a:ext cx="5514975" cy="2809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624137"/>
            <a:ext cx="525065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Business Overview &amp; Target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76562"/>
            <a:ext cx="50006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Core Business: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CampusKart is the official omni-channel retail and enterprise distribution partner for the university ecosystem, operating via a physical campus storefront and a cloud e-commerce portal.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93318"/>
            <a:ext cx="50006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B2B Segment: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University departments, student event committees, athletic teams, and academic fest organizers settled via internal university budget clearings.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10075"/>
            <a:ext cx="50006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B2C Segment: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Individual retail buyers (walk-in students, faculty, guests) and remote alumni/donor networks.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2624137"/>
            <a:ext cx="525065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Operational Network &amp;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2976562"/>
            <a:ext cx="50006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Supply Network: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Contracted wholesale distributors and garment manufacturers supplying prefabricated apparel, academic instruments, and lifestyle goods (bypassing raw manufacturing).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693318"/>
            <a:ext cx="50006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Key Departments: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Sales &amp; Front-End Operations, Procurement &amp; Sourcing, Inventory &amp; Logistics Control, and Finance &amp; Corporate Accounting.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4202906"/>
            <a:ext cx="50006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Strategy: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Standardizing dual-channel operations on a unified cloud ERP to achieve real-time inventory synchronization and automated B2B budget clearings.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1 – Business Context &amp; Ecosystem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263378"/>
            <a:ext cx="5514975" cy="30170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263378"/>
            <a:ext cx="5514975" cy="3017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520553"/>
            <a:ext cx="525065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Core Operational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72978"/>
            <a:ext cx="50006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Erratic Demand Spikes vs. Dead Stock: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400% demand surges during orientation and graduation fests lead to immediate stockouts, followed by capital tied up in slow-moving inventory due to manual forecasting.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89734"/>
            <a:ext cx="50006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Disjointed Cross-Channel Inventory: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Fragmented POS and e-commerce databases cause un-synchronized stock, leading to online overselling and customer cancellations.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06490"/>
            <a:ext cx="50006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Manual B2B Clearance Latency: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Physical sign-off sheets and email chains for institutional bulk orders delay budget verification and disrupt event delivery schedules.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2520553"/>
            <a:ext cx="525065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Target ERP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2872978"/>
            <a:ext cx="50006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Absolute Inventory Synchronization: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Establish a single real-time database source so every POS or digital checkout instantly updates global stock levels across all channels.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589734"/>
            <a:ext cx="50006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Data-Driven Automated Replenishment: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Configure automated minimum safety-stock reorder rules that auto-generate vendor RFQs to protect shelf availability during peak cycles.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4306490"/>
            <a:ext cx="50006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Automated B2B Budget Clearance: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Digitize internal university cost-centre approval flows to reduce bulk order processing times from 5 business days down to &lt; 24 hours.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1 – Strategic Drivers &amp; Goals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76400"/>
            <a:ext cx="5514975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625" y="1676400"/>
            <a:ext cx="57907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Standardized Process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2028825"/>
            <a:ext cx="551497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Order-to-Cash (O2C) Workflow: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Standardizes retail &amp; online checkouts across Customer, Sales (POS/Web), Warehouse, and Accounting lanes with real-time stock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2745581"/>
            <a:ext cx="551497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Procure-to-Pay (P2P) Workflow: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Automates stock replenishment when inventory hits minimum safety thresholds, driving vendor RFQs, goods receipts, and 3-way match billing.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5" y="3462337"/>
            <a:ext cx="551497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Market-to-Order (M2O) Bulk Workflow: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Structures institutional bulk requests via CRM leads, enforcing mandatory University Finance cost-center budget authorization sign-offs.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685925"/>
            <a:ext cx="5495925" cy="417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2 – BPMN Workflow Engineering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ABEE2F-5D35-E329-5FC4-056D783EE95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" t="395" r="232" b="16127"/>
          <a:stretch>
            <a:fillRect/>
          </a:stretch>
        </p:blipFill>
        <p:spPr bwMode="auto">
          <a:xfrm>
            <a:off x="6219348" y="1314450"/>
            <a:ext cx="5658020" cy="46792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332434"/>
            <a:ext cx="3651200" cy="28789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25" y="2332434"/>
            <a:ext cx="3651200" cy="28789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025" y="2332434"/>
            <a:ext cx="3651200" cy="2878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3075384"/>
            <a:ext cx="33336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Omnichannel Front-End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427809"/>
            <a:ext cx="317495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WEBSITE / E-COMMERCE • CRM •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8450" y="3075384"/>
            <a:ext cx="33336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Supply Chain &amp; Operational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8450" y="3427809"/>
            <a:ext cx="317495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PURCHASE • INVENTORY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0150" y="3075384"/>
            <a:ext cx="33336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Financials &amp;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0150" y="3427809"/>
            <a:ext cx="317495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ACCOUNTING • EMPLOYEES • DASHBOARDS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608659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3729037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3730228"/>
            <a:ext cx="3174950" cy="4143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Lato"/>
              </a:rPr>
              <a:t>Powers live sales synchronization across physical POS and web portal.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143375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4144565"/>
            <a:ext cx="3174950" cy="4143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Lato"/>
              </a:rPr>
              <a:t>Captures institutional inquiries automatically as CRM leads.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4557712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558903"/>
            <a:ext cx="3174950" cy="4143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Lato"/>
              </a:rPr>
              <a:t>Enforces dynamic tier pricing and 15% institutional discounts.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450" y="2608659"/>
            <a:ext cx="3429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22725" y="3729037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450" y="3730228"/>
            <a:ext cx="3174950" cy="4143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Lato"/>
              </a:rPr>
              <a:t>Maintains double-entry real-time stock tracking across campus warehouse.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2725" y="4143375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8450" y="4144565"/>
            <a:ext cx="3174950" cy="4143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Lato"/>
              </a:rPr>
              <a:t>Monitors minimum safety thresholds to auto-draft vendor RFQs.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2725" y="4557712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450" y="4558903"/>
            <a:ext cx="3174950" cy="4143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Lato"/>
              </a:rPr>
              <a:t>Manages inbound vendor receipts and outbound logistics orders.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0150" y="2608659"/>
            <a:ext cx="304800" cy="304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64425" y="3729037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0150" y="3730228"/>
            <a:ext cx="3174950" cy="4143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Lato"/>
              </a:rPr>
              <a:t>Executes 3-way match verification (PO vs. Receipt vs. Bill) before payment.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425" y="4143375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0150" y="4144565"/>
            <a:ext cx="3174950" cy="4143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Lato"/>
              </a:rPr>
              <a:t>Implements RBAC to enforce Separation of Duties across departments.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425" y="4557712"/>
            <a:ext cx="85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0150" y="4558903"/>
            <a:ext cx="3174950" cy="4143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Lato"/>
              </a:rPr>
              <a:t>Consolidates real-time executive metrics across sales and cash flow.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3 – System Architecture &amp; Odoo Modules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76400"/>
            <a:ext cx="5514975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625" y="1676400"/>
            <a:ext cx="57907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System Configuration &amp; Master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2028825"/>
            <a:ext cx="4684149" cy="59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Finished Goods Product Catalog: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Structured into 3 finished-goods categories: Apparel &amp; Wearables (Hoodies, Regalia), Academic Supplies (Notebooks, Gear), and Lifestyle Gifts (Flasks, Tech).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1" y="2823821"/>
            <a:ext cx="4674624" cy="59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Chart of Accounts &amp; Tax Localization: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Configured Indian Chart of Accounts (COA) with specialized journals for automated sales invoicing and 3-way vendor bill matching (210700 Purchase Expense).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6" y="3612699"/>
            <a:ext cx="4684150" cy="59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Vendor Network &amp; RBAC Infrastructure: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Onboarded wholesale supplier master profiles (e.g., </a:t>
            </a:r>
            <a:r>
              <a:rPr sz="1125" b="0" i="0" u="none" dirty="0" err="1">
                <a:solidFill>
                  <a:srgbClr val="94A3B8"/>
                </a:solidFill>
                <a:latin typeface="Lato"/>
              </a:rPr>
              <a:t>Everblye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Apparel Limited) and established role-based security access rights across internal departments.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685925"/>
            <a:ext cx="5495925" cy="417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4 – Odoo Setup &amp; Master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808423-8874-0B56-C4D8-D4035901A9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500"/>
          <a:stretch>
            <a:fillRect/>
          </a:stretch>
        </p:blipFill>
        <p:spPr>
          <a:xfrm>
            <a:off x="5418050" y="1676400"/>
            <a:ext cx="6335799" cy="4787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76400"/>
            <a:ext cx="5514975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625" y="1676400"/>
            <a:ext cx="57907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End-to-End Cycle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2028825"/>
            <a:ext cx="4821801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Procurement (P00004):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Executed purchase order for Ceramic Coffee Mugs (10,000 units @ ₹79) from contracted vendor.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2562454"/>
            <a:ext cx="4760850" cy="59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Goods Receipt &amp; Vendor Bill (BILL/2026/07/0004):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Received physical shipment into main warehouse and posted matched vendor bill worth ₹7,90,000 via 3-way matching.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6" y="3315041"/>
            <a:ext cx="4760849" cy="59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Customer Sales Orders (S00004):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Confirmed and posted dual-channel customer sales orders, automatically deducting inventory and recognizing revenue.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685925"/>
            <a:ext cx="5495925" cy="417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5 – Live Transactional Proof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7B6128-29DE-D4E5-E70E-91914613D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9052" y="1676400"/>
            <a:ext cx="6084323" cy="4321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76400"/>
            <a:ext cx="5514975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625" y="1676400"/>
            <a:ext cx="57907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Executive P&amp;L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6" y="2028825"/>
            <a:ext cx="4654652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Direct Revenue: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₹29,98,990.00 realized across posted B2B institutional orders and B2C sales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4" y="2601884"/>
            <a:ext cx="4654653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Operating Cost: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₹25,94,000.00 in direct vendor procurement costs and operational logistics expenses.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4" y="3180398"/>
            <a:ext cx="5018447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Net Profit Contribution: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₹4,04,990.00 net bottom-line profit tracked via analytic cost-center allocation (dummy 24th - </a:t>
            </a:r>
            <a:r>
              <a:rPr sz="1125" b="0" i="0" u="none" dirty="0" err="1">
                <a:solidFill>
                  <a:srgbClr val="94A3B8"/>
                </a:solidFill>
                <a:latin typeface="Lato"/>
              </a:rPr>
              <a:t>CampusKart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685925"/>
            <a:ext cx="5495925" cy="417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6 – CEO &amp; Financial Performance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1AED77-768E-AFBF-0334-B2837D934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214" y="1676400"/>
            <a:ext cx="6090160" cy="46677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76400"/>
            <a:ext cx="5514975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625" y="1676400"/>
            <a:ext cx="57907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Sales Breakdown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6" y="2028825"/>
            <a:ext cx="4713646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Total Revenue Pipeline: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₹62,97,889.50 realized across posted orders (S00001 – S00004).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7" y="2538412"/>
            <a:ext cx="4713646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Top Revenue Drivers: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Ceramic Coffee Mugs (S00004) and Laptop Backpacks (S00003).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5" y="3033972"/>
            <a:ext cx="4448175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Sales Velocity &amp; Delivery: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Real-time tracking of order fulfillment states and multi-channel revenue distribution.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685925"/>
            <a:ext cx="5495925" cy="417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6 – Commercial Sales Performance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358864-798A-0E0F-AA62-913BE4FC63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r="9256" b="39130"/>
          <a:stretch>
            <a:fillRect/>
          </a:stretch>
        </p:blipFill>
        <p:spPr>
          <a:xfrm>
            <a:off x="5490702" y="1603657"/>
            <a:ext cx="6263148" cy="43168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76400"/>
            <a:ext cx="5514975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625" y="1676400"/>
            <a:ext cx="57907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Stock Valuation &amp; Replenishment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6" y="2028825"/>
            <a:ext cx="4870962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Inventory Valuation: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Real-time perpetual automated valuation tracking unit costs across all merchandise.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2" y="2552723"/>
            <a:ext cx="4782164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Category Management: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Categorized into Apparel &amp; Wearables, Academic Supplies, and Lifestyle Gifts.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6" y="3076621"/>
            <a:ext cx="4890012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Stock Movements: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Automated inventory history recording incoming/outgoing merchandise.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685925"/>
            <a:ext cx="5495925" cy="417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6 – Inventory &amp; Logistics Control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5F8716-9F56-E32D-075C-6EA9C5F1F0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47" b="18672"/>
          <a:stretch>
            <a:fillRect/>
          </a:stretch>
        </p:blipFill>
        <p:spPr>
          <a:xfrm>
            <a:off x="5866631" y="1682160"/>
            <a:ext cx="5887219" cy="4185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76400"/>
            <a:ext cx="5514975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625" y="1676400"/>
            <a:ext cx="57907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Project-Level Cost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6" y="2028825"/>
            <a:ext cx="4556330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Analytic Cost Center: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Configured dedicated analytic account dummy 24th - </a:t>
            </a:r>
            <a:r>
              <a:rPr sz="1125" b="0" i="0" u="none" dirty="0" err="1">
                <a:solidFill>
                  <a:srgbClr val="94A3B8"/>
                </a:solidFill>
                <a:latin typeface="Lato"/>
              </a:rPr>
              <a:t>CampusKart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for campaign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2569736"/>
            <a:ext cx="4556330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Committed &amp; Achieved Budget: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Tracked performance against allocated budget baselines.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4" y="3110647"/>
            <a:ext cx="4556331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Ledger Transparency: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Automatic analytic tagging across revenue (₹19.90L) and purchase cost (₹7.90L) journal entries.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685925"/>
            <a:ext cx="5495925" cy="417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6 – Analytic Budget Allocation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0C79F2-A947-BC40-89E8-21339BE429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039"/>
          <a:stretch>
            <a:fillRect/>
          </a:stretch>
        </p:blipFill>
        <p:spPr>
          <a:xfrm>
            <a:off x="5432630" y="1685925"/>
            <a:ext cx="6330745" cy="43114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76400"/>
            <a:ext cx="5514975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625" y="1676400"/>
            <a:ext cx="57907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Separation of Duties (SoD)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6" y="2028825"/>
            <a:ext cx="5008614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Administrator Access: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Full visibility across Sales, Accounting, Inventory, and System 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6" y="2538412"/>
            <a:ext cx="4782471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Sales Representative (testrep@mail.com):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Restricted view limited exclusively to Sales, CRM, and basic operational apps.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5" y="3048000"/>
            <a:ext cx="5008615" cy="389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94A3B8"/>
                </a:solidFill>
                <a:latin typeface="Lato"/>
              </a:rPr>
              <a:t>Security Benefit:</a:t>
            </a:r>
            <a:r>
              <a:rPr sz="1125" b="0" i="0" u="none" dirty="0">
                <a:solidFill>
                  <a:srgbClr val="94A3B8"/>
                </a:solidFill>
                <a:latin typeface="Lato"/>
              </a:rPr>
              <a:t> Protects margins, vendor pricing, and executive reporting from non-finance roles.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685925"/>
            <a:ext cx="5495925" cy="417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6 – Enterprise Access Control (RBAC)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61144C-96A6-A368-E14B-32D6BB910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1865" y="1685926"/>
            <a:ext cx="5731510" cy="42724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625" y="1676400"/>
            <a:ext cx="579072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Governance &amp; Compliance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2028825"/>
            <a:ext cx="551497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Time-Stamped Audit Trail: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Chatter log records every document state change (Draft → Posted → In Payment).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2538412"/>
            <a:ext cx="551497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Accounting Lock Date: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Locked transactions up to 24/07/2026 to prevent backdated edits.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5" y="3048000"/>
            <a:ext cx="551497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Regulatory Compliance: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Ensures audit readiness and financial reporting integrity.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6 – Audit Trail &amp; Period Closing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705BD0-F4CC-94B3-9994-8C62CE5C5A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33" t="11884" r="32289" b="11391"/>
          <a:stretch>
            <a:fillRect/>
          </a:stretch>
        </p:blipFill>
        <p:spPr>
          <a:xfrm>
            <a:off x="7292595" y="593565"/>
            <a:ext cx="3643123" cy="24865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803617-B771-AAEF-A6AE-5881269A7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2" y="3151584"/>
            <a:ext cx="5731510" cy="32890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574131"/>
            <a:ext cx="5514975" cy="23955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574131"/>
            <a:ext cx="5514975" cy="2395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831306"/>
            <a:ext cx="525065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🚀 Industry 4.0 Initiatives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83731"/>
            <a:ext cx="50006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1. Smart RFID Inventory: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Real-time tracking of batch merchandise at warehouse gates.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93318"/>
            <a:ext cx="50006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2. Automated IIoT Reordering: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Shelf weight sensors triggering automated RFQs in Odoo.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02906"/>
            <a:ext cx="50006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3. Logistics Digital Twin: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Simulation of campus delivery routes to minimize lead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2831306"/>
            <a:ext cx="525065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DD4BF"/>
                </a:solidFill>
                <a:latin typeface="Poppins SemiBold"/>
              </a:rPr>
              <a:t>🤖 AI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183731"/>
            <a:ext cx="50006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1. Demand Forecasting: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ML algorithms predicting seasonal event stock demand.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693318"/>
            <a:ext cx="50006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2. Dynamic Pricing Engine: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AI adjusting discounts based on inventory age and demand.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4202906"/>
            <a:ext cx="50006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94A3B8"/>
                </a:solidFill>
                <a:latin typeface="Lato"/>
              </a:rPr>
              <a:t>3. AI Customer Support:</a:t>
            </a:r>
            <a:r>
              <a:rPr sz="1125" b="0" i="0" u="none">
                <a:solidFill>
                  <a:srgbClr val="94A3B8"/>
                </a:solidFill>
                <a:latin typeface="Lato"/>
              </a:rPr>
              <a:t> LLM assistant linked to Odoo backend for order tracking.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" y="428625"/>
            <a:ext cx="11763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Phase 6 – Industry 4.0 &amp; AI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1397</Words>
  <Application>Microsoft Office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Agnitra Ray</cp:lastModifiedBy>
  <cp:revision>5</cp:revision>
  <dcterms:created xsi:type="dcterms:W3CDTF">2013-01-27T09:14:16Z</dcterms:created>
  <dcterms:modified xsi:type="dcterms:W3CDTF">2026-07-25T20:06:57Z</dcterms:modified>
  <cp:category/>
</cp:coreProperties>
</file>